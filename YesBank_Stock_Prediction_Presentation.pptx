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32A54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274320"/>
            <a:ext cx="2011680" cy="2011680"/>
          </a:xfrm>
          <a:prstGeom prst="ellipse">
            <a:avLst/>
          </a:prstGeom>
          <a:solidFill>
            <a:srgbClr val="D4A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 •  EQUITY RESEARCH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Closing Price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₹367.90 peak to single digits — decoding a decade of Yes Bank's stock behaviour through Exploratory Data Analysis and Machine Learning Regression.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2926080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94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 |  EDA + ML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github.com/Janani23092/YES-BANK-STOCK-PRICE-PREDICTION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Yes Bank, and what problem we're solving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months of OHLC prices, 2005–2020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582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58200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charts uncovering trend, risk &amp; relationships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3159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validating what we observed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17720" y="3977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3159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data the right way for modelling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5820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58200" y="3977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Results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58200" y="43159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compared, 1 clear winner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77240" y="5669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77240" y="60076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investors &amp; the bank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Yes Bank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is one of India's most closely watched private banks — not for growth, but for its collapse. The 2018 fraud case involving founder Rana Kapoor triggered one of the sharpest stock declines in Indian banking history.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monthly OHLC prices (Jul 2005 – Nov 2020), build a model to predict monthly Close price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quantify the effect of the 2018 governance crisis on stock behaviour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model simple and transparent enough for analysts to trust and deploy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600200"/>
            <a:ext cx="4892040" cy="4617720"/>
          </a:xfrm>
          <a:prstGeom prst="roundRect">
            <a:avLst>
              <a:gd name="adj" fmla="val 1980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IN NUMBERS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₹367.90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close price — July 2018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disclosure &amp; governance crisis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2020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86600" y="4937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RBI-led moratorium &amp; reconstruction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5440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86600" y="5943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Peak-to-trough decline in stock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2005 → Nov 2020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Open, High, Low, Close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9944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clean — no imputation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72016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unique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DEFINITIONS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</a:t>
            </a:r>
            <a:pPr indent="0" marL="0">
              <a:buNone/>
            </a:pPr>
            <a:r>
              <a:rPr lang="en-US" sz="13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stock price (₹) for the month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</a:t>
            </a:r>
            <a:pPr indent="0" marL="0">
              <a:buNone/>
            </a:pPr>
            <a:r>
              <a:rPr lang="en-US" sz="13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 (₹) touched during the month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</a:t>
            </a:r>
            <a:pPr indent="0" marL="0">
              <a:buNone/>
            </a:pPr>
            <a:r>
              <a:rPr lang="en-US" sz="13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 (₹) touched during the month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</a:t>
            </a:r>
            <a:pPr indent="0" marL="0">
              <a:buNone/>
            </a:pPr>
            <a:r>
              <a:rPr lang="en-US" sz="13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closing price (₹) to predict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the raw dataset needed a few essential transformations to become fully analysis-ready.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32A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Conversion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'Jul-05' style strings converted into proper datetime objects, then sorted chronologically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32A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51460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2152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Month Extraction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2152" y="3703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for time-based grouping and seasonality checks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32A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251460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72784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Monthly_Range Feature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72784" y="3703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as High − Low, a proxy for intra-month volatility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0536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32A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89136" y="251460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22" name="Text 20"/>
          <p:cNvSpPr/>
          <p:nvPr/>
        </p:nvSpPr>
        <p:spPr>
          <a:xfrm>
            <a:off x="908913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43416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Pct_Change Feature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43416" y="3703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% change in Close, to spot the sharpest swings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9EEF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Monthly_Range spikes dramatically during 2018–2020, foreshadowing the volatility that would later define the crisis period and shape our train/test split strategy.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Acts of a Stock's Journey</a:t>
            </a:r>
            <a:endParaRPr lang="en-US" sz="3200" dirty="0"/>
          </a:p>
        </p:txBody>
      </p:sp>
      <p:pic>
        <p:nvPicPr>
          <p:cNvPr id="4" name="Image 0" descr="/home/claude/nb_images/eda_cell7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0664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709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Climb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7532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2016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75320" y="2331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consistent growth after listing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7532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Rally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753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– Jul 2018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532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of ₹367.90, driven by bull optimism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4800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75320" y="4910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Crash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7532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2018 – 2020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75320" y="5532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crisis, RBI moratorium, COVID-19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Price Distribution</a:t>
            </a:r>
            <a:endParaRPr lang="en-US" sz="3200" dirty="0"/>
          </a:p>
        </p:txBody>
      </p:sp>
      <p:pic>
        <p:nvPicPr>
          <p:cNvPr id="4" name="Image 0" descr="/home/claude/nb_images/eda_cell4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120640" cy="3511296"/>
          </a:xfrm>
          <a:prstGeom prst="rect">
            <a:avLst/>
          </a:prstGeom>
        </p:spPr>
      </p:pic>
      <p:pic>
        <p:nvPicPr>
          <p:cNvPr id="5" name="Image 1" descr="/home/claude/nb_images/eda_cell61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760720" cy="35387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9EEF7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 is heavily right-skewed — most months stayed under ₹100, with a long tail up to ₹368. Boxplot 'outliers' beyond ₹200 are genuine bull-run prices, not data errors, and must be kept in modelling.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TIME-SERIES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OHLC Prices Move Together</a:t>
            </a:r>
            <a:endParaRPr lang="en-US" sz="3200" dirty="0"/>
          </a:p>
        </p:txBody>
      </p:sp>
      <p:pic>
        <p:nvPicPr>
          <p:cNvPr id="4" name="Image 0" descr="/home/claude/nb_images/eda_cell8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360920" cy="34472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54480"/>
            <a:ext cx="3657600" cy="3447288"/>
          </a:xfrm>
          <a:prstGeom prst="roundRect">
            <a:avLst>
              <a:gd name="adj" fmla="val 2122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series — Open, High, Low, Close — move almost in lock-step across the entire 15-year history.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0" y="3154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High and Low only widens visibly during 2018–2020 — a direct visual signal of rising volatility during the crisis.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strongly signals Open, High, and Low will be excellent predictors of Close.</a:t>
            </a:r>
            <a:endParaRPr lang="en-US" sz="1250" dirty="0"/>
          </a:p>
        </p:txBody>
      </p:sp>
      <p:pic>
        <p:nvPicPr>
          <p:cNvPr id="10" name="Image 1" descr="/home/claude/nb_images/eda_cell13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20640"/>
            <a:ext cx="694944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0" y="5669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rolling mean &amp; volatility — variance clearly rises post-2018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vs. Target: Near-Perfect Linearity</a:t>
            </a:r>
            <a:endParaRPr lang="en-US" sz="3200" dirty="0"/>
          </a:p>
        </p:txBody>
      </p:sp>
      <p:pic>
        <p:nvPicPr>
          <p:cNvPr id="4" name="Image 0" descr="/home/claude/nb_images/eda_cell9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91640"/>
            <a:ext cx="3520440" cy="3108960"/>
          </a:xfrm>
          <a:prstGeom prst="rect">
            <a:avLst/>
          </a:prstGeom>
        </p:spPr>
      </p:pic>
      <p:pic>
        <p:nvPicPr>
          <p:cNvPr id="5" name="Image 1" descr="/home/claude/nb_images/eda_cell101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3520440" cy="3108960"/>
          </a:xfrm>
          <a:prstGeom prst="rect">
            <a:avLst/>
          </a:prstGeom>
        </p:spPr>
      </p:pic>
      <p:pic>
        <p:nvPicPr>
          <p:cNvPr id="6" name="Image 2" descr="/home/claude/nb_images/eda_cell109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691640"/>
            <a:ext cx="3520440" cy="31089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148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Close   </a:t>
            </a:r>
            <a:pPr algn="ctr" indent="0" marL="0">
              <a:buNone/>
            </a:pPr>
            <a:r>
              <a:rPr lang="en-US" sz="130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0.98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16052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Close   </a:t>
            </a:r>
            <a:pPr algn="ctr" indent="0" marL="0">
              <a:buNone/>
            </a:pPr>
            <a:r>
              <a:rPr lang="en-US" sz="130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0.985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90956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Close   </a:t>
            </a:r>
            <a:pPr algn="ctr" indent="0" marL="0">
              <a:buNone/>
            </a:pPr>
            <a:r>
              <a:rPr lang="en-US" sz="130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0.995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53949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9EEF7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has the tightest relationship with Close of all three predictors — meaning even a single-feature model using Low alone would already be a strong baseline.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&amp; Pair Plot</a:t>
            </a:r>
            <a:endParaRPr lang="en-US" sz="3200" dirty="0"/>
          </a:p>
        </p:txBody>
      </p:sp>
      <p:pic>
        <p:nvPicPr>
          <p:cNvPr id="4" name="Image 0" descr="/home/claude/nb_images/eda_cell14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572000" cy="3886200"/>
          </a:xfrm>
          <a:prstGeom prst="rect">
            <a:avLst/>
          </a:prstGeom>
        </p:spPr>
      </p:pic>
      <p:pic>
        <p:nvPicPr>
          <p:cNvPr id="5" name="Image 1" descr="/home/claude/nb_images/eda_cell157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371600"/>
            <a:ext cx="4251960" cy="44165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829800" y="1600200"/>
            <a:ext cx="1828800" cy="4206240"/>
          </a:xfrm>
          <a:prstGeom prst="roundRect">
            <a:avLst>
              <a:gd name="adj" fmla="val 4000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96696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96696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0.97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9966960" y="3063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Low–Close is tightest at ~0.995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966960" y="4023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strong multicollinearity — expected, and manageable via Ridge regularization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Trend vs. Calendar Seasonality</a:t>
            </a:r>
            <a:endParaRPr lang="en-US" sz="3200" dirty="0"/>
          </a:p>
        </p:txBody>
      </p:sp>
      <p:pic>
        <p:nvPicPr>
          <p:cNvPr id="4" name="Image 0" descr="/home/claude/nb_images/eda_cell11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91640"/>
            <a:ext cx="5669280" cy="3008376"/>
          </a:xfrm>
          <a:prstGeom prst="rect">
            <a:avLst/>
          </a:prstGeom>
        </p:spPr>
      </p:pic>
      <p:pic>
        <p:nvPicPr>
          <p:cNvPr id="5" name="Image 1" descr="/home/claude/nb_images/eda_cell125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486400" cy="30540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846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view: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rise 2005–2017, a 2018 spike, then steep 2019–20 decline — the entire story condensed into one chart.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126480" y="484632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/>
        </p:spPr>
      </p:sp>
      <p:sp>
        <p:nvSpPr>
          <p:cNvPr id="9" name="Text 5"/>
          <p:cNvSpPr/>
          <p:nvPr/>
        </p:nvSpPr>
        <p:spPr>
          <a:xfrm>
            <a:off x="6355080" y="4983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calendar-month pattern found — useful negative finding that saves effort on unneeded seasonal features.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Tells Its Own Story</a:t>
            </a:r>
            <a:endParaRPr lang="en-US" sz="3200" dirty="0"/>
          </a:p>
        </p:txBody>
      </p:sp>
      <p:pic>
        <p:nvPicPr>
          <p:cNvPr id="4" name="Image 0" descr="/home/claude/nb_images/eda_cell19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0"/>
            <a:ext cx="5669280" cy="2651760"/>
          </a:xfrm>
          <a:prstGeom prst="rect">
            <a:avLst/>
          </a:prstGeom>
        </p:spPr>
      </p:pic>
      <p:pic>
        <p:nvPicPr>
          <p:cNvPr id="5" name="Image 1" descr="/home/claude/nb_images/eda_cell141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532120" cy="2624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High–Low Range Over Time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263640" y="43434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% Change (green = gain, red = loss)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30–50%+ single-month crashes cluster in 2018–2020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larger and more frequent than anything seen from 2005–2017. These line up directly with news events: the fraud disclosure, RBI action, reconstruction scheme, and COVID-19 — confirming the crisis was a series of repeated shocks, not one event.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data-driven hypotheses were tested to statistically confirm what the charts suggested.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vs. Close Correlation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3154680" cy="18288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06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0.9851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9.97e-142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strongly reject H₀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25112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2331720"/>
            <a:ext cx="502920" cy="502920"/>
          </a:xfrm>
          <a:prstGeom prst="ellipse">
            <a:avLst/>
          </a:prstGeom>
          <a:solidFill>
            <a:srgbClr val="C026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7992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vs Post-Crisis Mean Close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07992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two-sample t-test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07992" y="4069080"/>
            <a:ext cx="3154680" cy="18288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4206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-2.36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7992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5120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99432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means differ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1584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0184" y="2331720"/>
            <a:ext cx="502920" cy="50292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84464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Post-Crisis Volatility Higher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84464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Welch's t-test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4069080"/>
            <a:ext cx="3154680" cy="18288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206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4.39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84464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4.73e-05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84464" y="5120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volatility rose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MODEL-READY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Pre-processing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58368"/>
          </a:xfrm>
          <a:prstGeom prst="rect">
            <a:avLst/>
          </a:prstGeom>
          <a:solidFill>
            <a:srgbClr val="E9EE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60020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zero imputation needed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22585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IQR-flagged 2018 peaks kept — they're real market data, not errors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11064240" cy="658368"/>
          </a:xfrm>
          <a:prstGeom prst="rect">
            <a:avLst/>
          </a:prstGeom>
          <a:solidFill>
            <a:srgbClr val="E9EEF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169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91693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— no categorical columns in this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753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5753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 retained (all r &gt; 0.97 with Close); Year/Month/Monthly_Range dropped as redundant or non-generalizing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1064240" cy="658368"/>
          </a:xfrm>
          <a:prstGeom prst="rect">
            <a:avLst/>
          </a:prstGeom>
          <a:solidFill>
            <a:srgbClr val="E9EE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336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423367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— required for Ridge Regression's scale-sensitive penalty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48920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— only 3 features, no PCA required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MODELLING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Chronological Split?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train/test split would let the model 'see the future' — training on data from both before and after the 2018 crash. We used a strict time-ordered 80/20 split instead.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855878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290304" y="3017520"/>
            <a:ext cx="2139696" cy="822960"/>
          </a:xfrm>
          <a:prstGeom prst="rect">
            <a:avLst/>
          </a:prstGeom>
          <a:solidFill>
            <a:srgbClr val="C026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— 148 months (80%)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Jul-2005 to Oct-2017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90304" y="31546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90304" y="34747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months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244584" y="2697480"/>
            <a:ext cx="91440" cy="9144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Split point: Oct 2017 — deliberately includes part of the volatile crisis period in the test set for an honest, hard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50292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the model is always tested on data that comes strictly after its training window — a realistic, leakage-free simulation of real-world deployment.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200" dirty="0"/>
          </a:p>
        </p:txBody>
      </p:sp>
      <p:pic>
        <p:nvPicPr>
          <p:cNvPr id="4" name="Image 0" descr="/home/claude/nb_images/ml_cell30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7406640" cy="2816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00200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0.9848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2104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₹9.78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2104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2688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₹15.82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9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regression using Open, High, Low as features.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hyperparameters to tune — instead validated using 5-fold TimeSeriesSplit cross-validation for stability, achieving a mean CV R² of 0.899, confirming the strong test performance isn't a lucky single split.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&amp;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&amp; Random Forest</a:t>
            </a:r>
            <a:endParaRPr lang="en-US" sz="3200" dirty="0"/>
          </a:p>
        </p:txBody>
      </p:sp>
      <p:pic>
        <p:nvPicPr>
          <p:cNvPr id="4" name="Image 0" descr="/home/claude/nb_images/ml_cell3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3566160" cy="3611880"/>
          </a:xfrm>
          <a:prstGeom prst="rect">
            <a:avLst/>
          </a:prstGeom>
        </p:spPr>
      </p:pic>
      <p:pic>
        <p:nvPicPr>
          <p:cNvPr id="5" name="Image 1" descr="/home/claude/nb_images/ml_cell32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3566160" cy="3611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0" y="169164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45820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RESULTS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4582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(α=0.001)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4582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0.9848  •  MAE ₹9.79  •  RMSE ₹15.82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458200" y="3200400"/>
            <a:ext cx="301752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582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(depth=8, n=200)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45820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0.9709  •  MAE ₹13.96  •  RMSE ₹21.85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58200" y="448056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132A54"/>
          </a:solidFill>
          <a:ln/>
        </p:spPr>
      </p:sp>
      <p:sp>
        <p:nvSpPr>
          <p:cNvPr id="14" name="Text 10"/>
          <p:cNvSpPr/>
          <p:nvPr/>
        </p:nvSpPr>
        <p:spPr>
          <a:xfrm>
            <a:off x="8549640" y="4480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≈ Linear.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falls short.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picked minimal Ridge regularization — confirming Linear Regression was already close to optimal. Random Forest, despite tuning, has too little data (148 rows) to beat a clean linear relationship.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01168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(Test)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(₹)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(₹)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4A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 &amp; Simplest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 (tuned)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Near-identical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short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</a:t>
            </a:r>
            <a:endParaRPr lang="en-US" sz="2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chosen as the final model — best test R² (0.985), fully interpretable coefficients, instant training, and no overfitting risk on this small 185-row dataset. Random Forest's added complexity brings no accuracy benefit here.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200" dirty="0"/>
          </a:p>
        </p:txBody>
      </p:sp>
      <p:pic>
        <p:nvPicPr>
          <p:cNvPr id="4" name="Image 0" descr="/home/claude/nb_images/ml_cell33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12648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= 92.10 + (coef × Open, High, Low)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0" y="2286000"/>
            <a:ext cx="4846320" cy="96012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+73.70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2104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positive driver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0" y="3429000"/>
            <a:ext cx="4846320" cy="96012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3538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40880" y="3886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+63.39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321040" y="3520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 contributor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4572000"/>
            <a:ext cx="4846320" cy="96012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4681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40880" y="5029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−52.97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21040" y="4663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negative once High/Low are known — expected due to multicollinearity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1E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predicting Nov-2020 from Open ₹12.41, High ₹14.90, Low ₹12.21 → Predicted Close ₹14.64 vs. Actual ₹14.67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3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Open, High, Low as core features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34440" y="20391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above 0.97 with Close support a simple, interpretable regression — no need for complex non-linear models.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2018 onward as a structurally different regime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34440" y="3090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only on 2005–2017 data would be dangerously misleading post-crisis. Always evaluate with a chronological split.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4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Linear Regression as the production model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34440" y="41422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0.985, MAE ~₹9.78 — accurate, fast, transparent, and easy for stakeholders to trust and audit.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should be used as a decision-support tool alongside human judgement — not a guaranteed market forecast.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M  |  github.com/Janani23092/YES-BANK-STOCK-PRICE-PREDICTION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 Bank Stock Closing Price Prediction</dc:title>
  <dc:subject>PptxGenJS Presentation</dc:subject>
  <dc:creator>Janani M</dc:creator>
  <cp:lastModifiedBy>Janani M</cp:lastModifiedBy>
  <cp:revision>1</cp:revision>
  <dcterms:created xsi:type="dcterms:W3CDTF">2026-07-08T10:26:20Z</dcterms:created>
  <dcterms:modified xsi:type="dcterms:W3CDTF">2026-07-08T10:26:20Z</dcterms:modified>
</cp:coreProperties>
</file>